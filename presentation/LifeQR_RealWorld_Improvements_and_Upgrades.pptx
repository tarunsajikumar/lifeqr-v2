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LIFEQR 2.0: SYSTEM UPGRADES &amp; ENGINEERING ROADMAP</a:t>
            </a:r>
          </a:p>
          <a:p>
            <a:pPr>
              <a:spcBef>
                <a:spcPts val="1200"/>
              </a:spcBef>
              <a:defRPr sz="1800">
                <a:solidFill>
                  <a:srgbClr val="06B6D4"/>
                </a:solidFill>
              </a:defRPr>
            </a:pPr>
            <a:r>
              <a:t>Transforming the Working Prototype into an Industrial, Fault-Tolerant Life-Saving Standard</a:t>
            </a:r>
          </a:p>
          <a:p>
            <a:pPr>
              <a:spcBef>
                <a:spcPts val="2000"/>
              </a:spcBef>
              <a:defRPr sz="1400">
                <a:solidFill>
                  <a:srgbClr val="D1D5DB"/>
                </a:solidFill>
              </a:defRPr>
            </a:pPr>
            <a:r>
              <a:t>A comprehensive strategic blueprint detailing offline mesh satellite telemetry,</a:t>
            </a:r>
            <a:br/>
            <a:r>
              <a:t>integrated vital sensors, voice AI paramedic scribing, active E-paper wearables,</a:t>
            </a:r>
            <a:br/>
            <a:r>
              <a:t>autonomous blood drone dispatch, and hospital EHR interoperability.</a:t>
            </a:r>
          </a:p>
          <a:p>
            <a:pPr>
              <a:spcBef>
                <a:spcPts val="4500"/>
              </a:spcBef>
              <a:defRPr sz="1100" b="1">
                <a:solidFill>
                  <a:srgbClr val="9CA3AF"/>
                </a:solidFill>
              </a:defRPr>
            </a:pPr>
            <a:r>
              <a:t>ARCHITECTURAL UPGRADES  •  HARDWARE BOM  •  CLINICAL INTEGRATION  •  REGULATORY PATHWAY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●  LIFEQR 2.0 UPGRADE BLUEPRINT  |  MATURITY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Upgrades Are Essential for Real-World Success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Bridging the gap between software proof-of-concept and mission-critical life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14600" cy="402336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UPGRADE PILLAR 01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</a:defRPr>
            </a:pPr>
            <a:r>
              <a:t>Zero-Coverage Blindspots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Accidents frequently happen in highway tunnels, mountain passes, and rural zones with zero 4G/5G cell reception. The terminal must work offline with mesh/satellite fallback.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011680"/>
            <a:ext cx="2514600" cy="402336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UPGRADE PILLAR 02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</a:defRPr>
            </a:pPr>
            <a:r>
              <a:t>Manual Paramedic Typing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Entering blood pressure or heart rate while speeding at 100 km/h over bumpy roads causes errors. Requires hands-free voice AI and plug-in biometric sensor probes.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011680"/>
            <a:ext cx="2514600" cy="4023360"/>
          </a:xfrm>
          <a:prstGeom prst="rect">
            <a:avLst/>
          </a:prstGeom>
          <a:solidFill>
            <a:srgbClr val="16192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UPGRADE PILLAR 03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</a:defRPr>
            </a:pPr>
            <a:r>
              <a:t>Passive Wearable Limits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Static printed QR/NFC cards cannot update if daily medication changes. Requires smart active wearables (E-Paper display + BLE crash detection beacon).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2011680"/>
            <a:ext cx="2514600" cy="402336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UPGRADE PILLAR 04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</a:defRPr>
            </a:pPr>
            <a:r>
              <a:t>Blood Bank Bottlenecks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Knowing a patient is O-negative is useless if the receiving ER has zero units in stock. Requires automated blood bank network matching and autonomous drone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●  LIFEQR 2.0 UPGRADE BLUEPRINT  |  TELEMETRY UPGRADE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Zero-Deadzone Mesh &amp; Satellite Comms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Ensuring life-saving telemetry transmits even in mountain valleys and highway deadzones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290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4G / 5G Primary Cellular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High-Bandwidth Link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• Standard operational state.</a:t>
            </a:r>
            <a:br/>
            <a:r>
              <a:t>• Streams HD tele-trauma video and full multi-page hospital records.</a:t>
            </a:r>
            <a:br/>
            <a:r>
              <a:t>• Latency: &lt; 150ms to receiving ER triage desk.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011680"/>
            <a:ext cx="34290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LoRaWAN 868/915 MHz Mesh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Long-Range Highway Mesh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• Auto-activates when cellular drops.</a:t>
            </a:r>
            <a:br/>
            <a:r>
              <a:t>• 15 km point-to-point range to roadside emergency callboxes or police cruisers.</a:t>
            </a:r>
            <a:br/>
            <a:r>
              <a:t>• Transmits compressed triage packet (Blood, Allergies, Vitals, GPS) in &lt; 1 second.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0" y="2011680"/>
            <a:ext cx="34290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Iridium Satellite Backup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Global Zero-Fail Safety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• Direct Low-Earth Orbit satellite link (Iridium SBD transceiver).</a:t>
            </a:r>
            <a:br/>
            <a:r>
              <a:t>• Works in deep forests, deserts, and maritime waterways.</a:t>
            </a:r>
            <a:br/>
            <a:r>
              <a:t>• Guarantees distress SOS and critical blood type reach emergency dispatch unconditionally.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●  LIFEQR 2.0 UPGRADE BLUEPRINT  |  HARDWARE UPGRADE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Next-Gen Triage Terminal with Integrated Biometrics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Eliminating manual data entry with live ECG probes, pulse oximetry &amp; voice AI scribe</a:t>
            </a:r>
          </a:p>
        </p:txBody>
      </p:sp>
      <p:pic>
        <p:nvPicPr>
          <p:cNvPr id="5" name="Picture 4" descr="nextgen_triage_term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26480" y="1828800"/>
            <a:ext cx="5303520" cy="4389120"/>
          </a:xfrm>
          <a:prstGeom prst="rect">
            <a:avLst/>
          </a:prstGeom>
          <a:solidFill>
            <a:srgbClr val="16192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★  Direct Biometric Sensor Jack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Plug-and-play finger SpO2 clip and 3-lead ECG patches connect directly to terminal. Waveforms stream live to hospital.</a:t>
            </a:r>
          </a:p>
          <a:p>
            <a:pPr>
              <a:spcBef>
                <a:spcPts val="1000"/>
              </a:spcBef>
              <a:defRPr sz="1300" b="1">
                <a:solidFill>
                  <a:srgbClr val="06B6D4"/>
                </a:solidFill>
              </a:defRPr>
            </a:pPr>
            <a:r>
              <a:t>★  Voice-Activated Paramedic Scribe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Noise-canceling array microphone allows paramedic to dictate notes hands-free while stabilizing victim: 'GCS 8, bilateral breath sounds diminished, IV saline running.'</a:t>
            </a:r>
          </a:p>
          <a:p>
            <a:pPr>
              <a:spcBef>
                <a:spcPts val="1000"/>
              </a:spcBef>
              <a:defRPr sz="1300" b="1">
                <a:solidFill>
                  <a:srgbClr val="06B6D4"/>
                </a:solidFill>
              </a:defRPr>
            </a:pPr>
            <a:r>
              <a:t>★  Dual Hot-Swappable Batteries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2x 2500mAh smart battery packs allow 24-hour non-stop emergency shifts without device power downs.</a:t>
            </a:r>
          </a:p>
          <a:p>
            <a:pPr>
              <a:spcBef>
                <a:spcPts val="1000"/>
              </a:spcBef>
              <a:defRPr sz="1300" b="1">
                <a:solidFill>
                  <a:srgbClr val="06B6D4"/>
                </a:solidFill>
              </a:defRPr>
            </a:pPr>
            <a:r>
              <a:t>★  Built-In Sunlight Display &amp; Thermal Camera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High-nits 800-nit screen readable in glaring noon sun + FLIR thermal sensor to detect internal blunt trauma bleeding or shock vasoconstriction.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●  LIFEQR 2.0 UPGRADE BLUEPRINT  |  WEARABLES UPGRADE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Smart Wearables 2.0: Active E-Paper &amp; Crash Beacons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Dynamic biometric wristbands, impact-detecting helmet beacons, and EDC capsules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solidFill>
            <a:srgbClr val="161921"/>
          </a:solidFill>
          <a:ln>
            <a:solidFill>
              <a:srgbClr val="2D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✔  Active E-Paper Medical Wristband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Bistable E-Ink screen updates dynamically via patient smartphone. Shows real-time prescription changes, zero battery drain between updates, 100% waterproof.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✔  Crash-Detection Helmet Beacon (BLE 5.2)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Aerodynamic sensor module with 3-axis accelerometer. Upon high-G collision, it flashes emergency red strobe and broadcasts Bluetooth beacon within 50m.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✔  Titanium EDC Emergency Capsule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Waterproof keychain capsule containing critical emergency medication (nitroglycerin, antihistamines) with micro laser-engraved emergency QR code.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✔  NXP NTAG 424 DNA Cryptography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Implements AES-128 cryptographic Secure Unique NFC (SUN) authentication preventing badge cloning or fraudulent identity theft.</a:t>
            </a:r>
          </a:p>
        </p:txBody>
      </p:sp>
      <p:pic>
        <p:nvPicPr>
          <p:cNvPr id="6" name="Picture 5" descr="smart_wearables_upgr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●  LIFEQR 2.0 UPGRADE BLUEPRINT  |  RESUSCITATION UPGRADE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Autonomous Drone Blood Delivery &amp; Tele-Trauma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Overcoming rare blood shortages and giving surgeons direct video overwatch into the ambulance</a:t>
            </a:r>
          </a:p>
        </p:txBody>
      </p:sp>
      <p:pic>
        <p:nvPicPr>
          <p:cNvPr id="5" name="Picture 4" descr="drone_blood_tele_trau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26480" y="1828800"/>
            <a:ext cx="5303520" cy="438912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/>
          <a:lstStyle/>
          <a:p>
            <a:pPr algn="ctr">
              <a:defRPr sz="1300" b="1">
                <a:solidFill>
                  <a:srgbClr val="E11D2E"/>
                </a:solidFill>
              </a:defRPr>
            </a:pPr>
            <a:r>
              <a:t>★  Automated Blood Bank Network Query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When an O-negative or rare blood patient is scanned, cloud API instantly verifies stock across regional blood centers.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★  Autonomous Medical Drone Dispatch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If receiving hospital is low on matching units, an electric delivery drone lands on the ER rooftop carrying refrigerated blood before the ambulance arrives.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★  Real-Time Tele-Trauma Video Feed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Trauma bay chief surgeon views ambulance cabin camera via low-latency WebRTC, instructing paramedics on tension pneumothorax decompression.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★  Zero Resuscitation Delay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Blood is cross-matched, thawed, and hanging on IV stands the exact second the gurney wheels through trauma bay doors.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●  LIFEQR 2.0 UPGRADE BLUEPRINT  |  SOFTWARE UPGRADE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Hospital EHR Interoperability (HL7 FHIR)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Seamless data integration with Epic, Cerner, Meditech, and National Health Stacks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192024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HL7 FHIR Release 4 Compliance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Standardized RESTful JSON endpoints allowing any hospital clinical system to read LifeQR emergency records without custom software.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Protocol: HL7 FHIR R4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011680"/>
            <a:ext cx="5120640" cy="1920240"/>
          </a:xfrm>
          <a:prstGeom prst="rect">
            <a:avLst/>
          </a:prstGeom>
          <a:solidFill>
            <a:srgbClr val="16192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Epic &amp; Cerner EHR Bi-directional Sync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When a doctor updates prescriptions in hospital Epic software, patient's LifeQR badge is updated automatically via cloud webhooks.</a:t>
            </a:r>
          </a:p>
          <a:p>
            <a:pPr>
              <a:spcBef>
                <a:spcPts val="600"/>
              </a:spcBef>
              <a:defRPr sz="1000" b="1">
                <a:solidFill>
                  <a:srgbClr val="06B6D4"/>
                </a:solidFill>
              </a:defRPr>
            </a:pPr>
            <a:r>
              <a:t>Protocol: EHR Webhook Sync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5120640" cy="192024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Pre-Hospital ePCR Automation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Paramedic electronic Patient Care Reports (ePCR) auto-populated from LifeQR, saving 20 minutes of paperwork per shift.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Protocol: NEMSIS 3.5 Compatible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206240"/>
            <a:ext cx="5120640" cy="1920240"/>
          </a:xfrm>
          <a:prstGeom prst="rect">
            <a:avLst/>
          </a:prstGeom>
          <a:solidFill>
            <a:srgbClr val="16192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Govt Health ID Integration (ABHA / NHS)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Direct mapping with national digital health accounts (India ABHA, UK NHS Number, US Apple Health Records).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t>Protocol: National ID Bridges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●  LIFEQR 2.0 UPGRADE BLUEPRINT  |  SECURITY UPGRADE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Zero-Knowledge Encryption &amp; Anti-Cloning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Military-grade data protection ensuring medical privacy without slowing emergency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SECURITY 01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NTAG 424 DNA (SUN Tokens)</a:t>
            </a:r>
          </a:p>
          <a:p>
            <a:pPr>
              <a:spcBef>
                <a:spcPts val="1400"/>
              </a:spcBef>
              <a:defRPr sz="1100">
                <a:solidFill>
                  <a:srgbClr val="D1D5DB"/>
                </a:solidFill>
              </a:defRPr>
            </a:pPr>
            <a:r>
              <a:t>Dynamic cryptographic URL generated on every physical tap. Prevents clone attacks or counterfeit cards.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SECURITY 02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Tiered Privacy Masking</a:t>
            </a:r>
          </a:p>
          <a:p>
            <a:pPr>
              <a:spcBef>
                <a:spcPts val="1400"/>
              </a:spcBef>
              <a:defRPr sz="1100">
                <a:solidFill>
                  <a:srgbClr val="D1D5DB"/>
                </a:solidFill>
              </a:defRPr>
            </a:pPr>
            <a:r>
              <a:t>Bystanders scan QR $_x000D_ightarrow$ see only Blood Group, Allergies, ICE Contacts. Full medical surgeries require certified Paramedic/Doctor badge.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SECURITY 03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Ephemeral 24h Access Keys</a:t>
            </a:r>
          </a:p>
          <a:p>
            <a:pPr>
              <a:spcBef>
                <a:spcPts val="1400"/>
              </a:spcBef>
              <a:defRPr sz="1100">
                <a:solidFill>
                  <a:srgbClr val="D1D5DB"/>
                </a:solidFill>
              </a:defRPr>
            </a:pPr>
            <a:r>
              <a:t>Medical data access granted during emergency automatically revokes after 24 hours. Full immutable audit trail logged to blockchain/tamper-proof ledger.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SECURITY 04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HIPAA &amp; GDPR Compliance</a:t>
            </a:r>
          </a:p>
          <a:p>
            <a:pPr>
              <a:spcBef>
                <a:spcPts val="1400"/>
              </a:spcBef>
              <a:defRPr sz="1100">
                <a:solidFill>
                  <a:srgbClr val="D1D5DB"/>
                </a:solidFill>
              </a:defRPr>
            </a:pPr>
            <a:r>
              <a:t>Zero-knowledge encryption keys held client-side. LifeQR cloud servers never store unencrypted health history or identity documents.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●  LIFEQR 2.0 UPGRADE BLUEPRINT  |  MANUFACTURING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Medical Device Regulatory &amp; Tooling Strategy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Ensuring legal clinical deployment in ambulances and emergency wards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Medical Certification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Global Approvals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FDA 510(k) Class II Medical Device exemption for triage accessories.</a:t>
            </a:r>
            <a:br/>
            <a:r>
              <a:t>• CE MDR (Medical Device Regulation 2017/745) Class I/IIa compliance for Europe.</a:t>
            </a:r>
            <a:br/>
            <a:r>
              <a:t>• CDSCO Class B approval for Indian EMS fleets.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Electrical Safety (IEC 60601)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Clinical Robustness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IEC 60601-1-2 EMC testing ensuring terminal won't interfere with ambulance defibrillators or ventilators.</a:t>
            </a:r>
            <a:br/>
            <a:r>
              <a:t>• Defibrillation-proof protection on ECG probe inputs.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Tooling &amp; Injection Molding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Production Scale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Hardened aluminum molds for 100,000+ unit runs.</a:t>
            </a:r>
            <a:br/>
            <a:r>
              <a:t>• Flame-retardant Bayer Makrolon antimicrobial polycarbonate casing.</a:t>
            </a:r>
            <a:br/>
            <a:r>
              <a:t>• Target manufacturing BOM: $115 per ambulance unit at 5,000 units.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ISO 13485 Quality System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Factory Auditing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Contract manufacturing with certified ISO 13485 biomedical facilities.</a:t>
            </a:r>
            <a:br/>
            <a:r>
              <a:t>• 100% automated optical inspection (AOI) and RF testing before factory dispatch.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●  LIFEQR 2.0 UPGRADE BLUEPRINT  |  GO-TO-MARKET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Sustainable Commercialization &amp; Insurance Integration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Why insurance providers and vehicle manufacturers will fund LifeQR card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192024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Auto &amp; Health Insurance Tie-Ups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Insurance companies save an average of $3,800 per trauma admission when triage data prevents malpractice or ICU overstays. Insurers bundle LifeQR cards for free with policy renewals.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Revenue Channel: 5-10% Premium Rebates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011680"/>
            <a:ext cx="5120640" cy="1920240"/>
          </a:xfrm>
          <a:prstGeom prst="rect">
            <a:avLst/>
          </a:prstGeom>
          <a:solidFill>
            <a:srgbClr val="16192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Motorcycle Dealership Bundles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Every new two-wheeler sold (Yamaha, Honda, Royal Enfield, Hero) comes with a factory-registered LifeQR helmet sticker and emergency card.</a:t>
            </a:r>
          </a:p>
          <a:p>
            <a:pPr>
              <a:spcBef>
                <a:spcPts val="600"/>
              </a:spcBef>
              <a:defRPr sz="1000" b="1">
                <a:solidFill>
                  <a:srgbClr val="06B6D4"/>
                </a:solidFill>
              </a:defRPr>
            </a:pPr>
            <a:r>
              <a:t>Revenue Channel: OEM Safety Pack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5120640" cy="192024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School District &amp; Campus Mandates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Schools adopt LifeQR bag tags as part of student orientation to comply with pediatric allergy and emergency preparedness regulations.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Revenue Channel: District Contracts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206240"/>
            <a:ext cx="5120640" cy="192024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Municipal Smart City Grants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City emergency transport departments fund ambulance hardware deployments through traffic safety and smart healthcare public grants.</a:t>
            </a:r>
          </a:p>
          <a:p>
            <a:pPr>
              <a:spcBef>
                <a:spcPts val="600"/>
              </a:spcBef>
              <a:defRPr sz="1000" b="1">
                <a:solidFill>
                  <a:srgbClr val="E11D2E"/>
                </a:solidFill>
              </a:defRPr>
            </a:pPr>
            <a:r>
              <a:t>Revenue Channel: Vision Zero Grants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●  LIFEQR 2.0 UPGRADE BLUEPRINT  |  ENGINEERING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12-Month Technical Implementation Timeline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Structured development milestones to deliver the upgraded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Q1: IoT &amp; Sensor Core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Integrate Semtech SX1262 LoRaWAN &amp; Iridium SBD modules.</a:t>
            </a:r>
            <a:br/>
            <a:r>
              <a:t>• Interface MAX30102 pulse oximeter &amp; AD8232 ECG to ESP32.</a:t>
            </a:r>
            <a:br/>
            <a:r>
              <a:t>• Build FreeRTOS firmware with offline SQLite caching.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Q2: Voice AI &amp; Tele-Trauma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Implement whisper.cpp on-device voice transcription.</a:t>
            </a:r>
            <a:br/>
            <a:r>
              <a:t>• Deploy WebRTC video streaming from ambulance terminal to hospital.</a:t>
            </a:r>
            <a:br/>
            <a:r>
              <a:t>• Field test 5 units in simulated EMS vehicle vibrations.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Q3: Clinical &amp; EHR Integration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Build HL7 FHIR server adapter for Epic/Cerner.</a:t>
            </a:r>
            <a:br/>
            <a:r>
              <a:t>• Connect city blood bank REST APIs for automated stock matching.</a:t>
            </a:r>
            <a:br/>
            <a:r>
              <a:t>• Finalize injection mold tooling for terminal chassis.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2011680"/>
            <a:ext cx="2514600" cy="4114800"/>
          </a:xfrm>
          <a:prstGeom prst="rect">
            <a:avLst/>
          </a:prstGeom>
          <a:solidFill>
            <a:srgbClr val="1619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Q4: Fleet Pilot &amp; Production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50-ambulance live municipal emergency trial.</a:t>
            </a:r>
            <a:br/>
            <a:r>
              <a:t>• Distribute 25,000 smart cards &amp; helmet decals.</a:t>
            </a:r>
            <a:br/>
            <a:r>
              <a:t>• File FDA 510(k) and CE mark certifications.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solidFill>
            <a:srgbClr val="161921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BUILDING THE GLOBAL LIFEQR STANDARD</a:t>
            </a:r>
          </a:p>
          <a:p>
            <a:pPr algn="ctr">
              <a:spcBef>
                <a:spcPts val="1200"/>
              </a:spcBef>
              <a:defRPr sz="1800" b="1">
                <a:solidFill>
                  <a:srgbClr val="06B6D4"/>
                </a:solidFill>
              </a:defRPr>
            </a:pPr>
            <a:r>
              <a:t>From Concept to Life-Saving Physical Reality</a:t>
            </a:r>
          </a:p>
          <a:p>
            <a:pPr algn="ctr">
              <a:spcBef>
                <a:spcPts val="2000"/>
              </a:spcBef>
              <a:defRPr sz="1400">
                <a:solidFill>
                  <a:srgbClr val="D1D5DB"/>
                </a:solidFill>
              </a:defRPr>
            </a:pPr>
            <a:r>
              <a:t>By combining satellite/mesh fallback, direct vital sensors, voice AI scribing,</a:t>
            </a:r>
            <a:br/>
            <a:r>
              <a:t>active E-paper wearables, autonomous drone blood delivery, and institutional funding,</a:t>
            </a:r>
            <a:br/>
            <a:r>
              <a:t>LifeQR becomes an unassailable, mission-critical standard for municipal emergency healthcare.</a:t>
            </a:r>
          </a:p>
          <a:p>
            <a:pPr algn="ctr">
              <a:spcBef>
                <a:spcPts val="3500"/>
              </a:spcBef>
              <a:defRPr sz="1200" b="1">
                <a:solidFill>
                  <a:srgbClr val="10B981"/>
                </a:solidFill>
              </a:defRPr>
            </a:pPr>
            <a:r>
              <a:t>READY FOR COMMERCIAL PILOTING  •  HARDWARE ACCELERATOR 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