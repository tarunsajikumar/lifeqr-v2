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" cy="4754880"/>
          </a:xfrm>
          <a:prstGeom prst="rect">
            <a:avLst/>
          </a:prstGeom>
          <a:solidFill>
            <a:srgbClr val="E1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0058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LIFEQR PROCESS ARCHITECTURE MASTER</a:t>
            </a:r>
          </a:p>
          <a:p>
            <a:pPr>
              <a:spcBef>
                <a:spcPts val="1000"/>
              </a:spcBef>
              <a:defRPr sz="1700">
                <a:solidFill>
                  <a:srgbClr val="E11D2E"/>
                </a:solidFill>
              </a:defRPr>
            </a:pPr>
            <a:r>
              <a:t>Comprehensive Process Blueprints for Patient Lifecycle, Accident Triage &amp; Hospital Resuscitation</a:t>
            </a:r>
          </a:p>
          <a:p>
            <a:pPr>
              <a:spcBef>
                <a:spcPts val="2000"/>
              </a:spcBef>
              <a:defRPr sz="1300">
                <a:solidFill>
                  <a:srgbClr val="D1D5DB"/>
                </a:solidFill>
              </a:defRPr>
            </a:pPr>
            <a:r>
              <a:t>Step-by-step technical architectures with dedicated engineering flowcharts:</a:t>
            </a:r>
            <a:br/>
            <a:r>
              <a:t>• Process 1: Patient Registration, NTAG 424 Cryptographic Encoding &amp; Wearable Deployment</a:t>
            </a:r>
            <a:br/>
            <a:r>
              <a:t>• Process 2: Highway Motorcycle Crash, IMU Shock Sensing &amp; Tactical Paramedic Triage</a:t>
            </a:r>
            <a:br/>
            <a:r>
              <a:t>• Process 3: Real-Time In-Transit Hospital Telemetry, Trauma Bay Allocation &amp; Doctor Desktop Hub</a:t>
            </a:r>
          </a:p>
          <a:p>
            <a:pPr>
              <a:spcBef>
                <a:spcPts val="4500"/>
              </a:spcBef>
              <a:defRPr sz="1100" b="1">
                <a:solidFill>
                  <a:srgbClr val="9CA3AF"/>
                </a:solidFill>
              </a:defRPr>
            </a:pPr>
            <a:r>
              <a:t>PROCESS SPECIFICATIONS  •  VISUAL ARCHITECTURE BLUEPRINTS  •  REAL-WORLD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MASTER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Full-Stack Connected Emergency Ecosystem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The complete synchronized data loop connecting patient, scene, ambulance, and trauma bay</a:t>
            </a:r>
          </a:p>
        </p:txBody>
      </p:sp>
      <p:pic>
        <p:nvPicPr>
          <p:cNvPr id="5" name="Picture 4" descr="lifeqr_system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737360"/>
            <a:ext cx="3931920" cy="4572000"/>
          </a:xfrm>
          <a:prstGeom prst="rect">
            <a:avLst/>
          </a:prstGeom>
          <a:solidFill>
            <a:srgbClr val="141821"/>
          </a:solidFill>
          <a:ln>
            <a:solidFill>
              <a:srgbClr val="2D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 3 CORE PROCESS TIERS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</a:defRPr>
            </a:pPr>
            <a:r>
              <a:t>■  Process Tier 1: Patient Lifecycle</a:t>
            </a:r>
          </a:p>
          <a:p>
            <a:pPr>
              <a:spcBef>
                <a:spcPts val="400"/>
              </a:spcBef>
              <a:defRPr sz="1050">
                <a:solidFill>
                  <a:srgbClr val="D1D5DB"/>
                </a:solidFill>
              </a:defRPr>
            </a:pPr>
            <a:r>
              <a:t>Digital registration, NTAG 424 DNA programming, laser-etched QR card, helmet decal, and school student tag.</a:t>
            </a:r>
          </a:p>
          <a:p>
            <a:pPr>
              <a:spcBef>
                <a:spcPts val="1200"/>
              </a:spcBef>
              <a:defRPr sz="1200" b="1">
                <a:solidFill>
                  <a:srgbClr val="E11D2E"/>
                </a:solidFill>
              </a:defRPr>
            </a:pPr>
            <a:r>
              <a:t>■  Process Tier 2: Accident &amp; EMS Triage</a:t>
            </a:r>
          </a:p>
          <a:p>
            <a:pPr>
              <a:spcBef>
                <a:spcPts val="400"/>
              </a:spcBef>
              <a:defRPr sz="1050">
                <a:solidFill>
                  <a:srgbClr val="D1D5DB"/>
                </a:solidFill>
              </a:defRPr>
            </a:pPr>
            <a:r>
              <a:t>Crash event, IMU shock trigger, paramedic tactical dual-scan, offline EEPROM vitals read, and GPS hospital dispatch.</a:t>
            </a:r>
          </a:p>
          <a:p>
            <a:pPr>
              <a:spcBef>
                <a:spcPts val="1200"/>
              </a:spcBef>
              <a:defRPr sz="1200" b="1">
                <a:solidFill>
                  <a:srgbClr val="0EA5E9"/>
                </a:solidFill>
              </a:defRPr>
            </a:pPr>
            <a:r>
              <a:t>■  Process Tier 3: Hospital &amp; Doctor ER</a:t>
            </a:r>
          </a:p>
          <a:p>
            <a:pPr>
              <a:spcBef>
                <a:spcPts val="400"/>
              </a:spcBef>
              <a:defRPr sz="1050">
                <a:solidFill>
                  <a:srgbClr val="D1D5DB"/>
                </a:solidFill>
              </a:defRPr>
            </a:pPr>
            <a:r>
              <a:t>Live telemetry reception, Trauma Bay 1 allocation, blood bank staging, doctor USB cradle intake, and FHIR EHR sync.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PROCESS ARCHITECTURE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Patient &amp; Citizen Lifecycle Blueprint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Registration, NTAG 424 DNA chip encoding, laser QR printing, and zero-knowledge encryption</a:t>
            </a:r>
          </a:p>
        </p:txBody>
      </p:sp>
      <p:pic>
        <p:nvPicPr>
          <p:cNvPr id="5" name="Picture 4" descr="patient_process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498079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691640"/>
            <a:ext cx="3017520" cy="466344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PROCESS 1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✔ Step 1: Emergency Intake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Patient inputs blood group, allergies, chronic ailments, and primary ICE phone contacts.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✔ Step 2: NTAG 424 DNA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Card issuance encoder writes rolling AES-128 SUN keys to prevent counterfeiting.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✔ Step 3: Multi-Wearables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Wallet smart card, rider helmet reflective decal, and student backpack tag issued.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✔ Step 4: Encrypted Vault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Data secured via AES-256 GCM client-side encryption with zero-knowledge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PATIENT PROCESS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Technical Lifecycle: Registration to Card Issuance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Under the hood of the patient medical onboarding and cryptographic encoding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PHASE 01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1. Digital Medical Onboarding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• Verified Identity &amp; Consent</a:t>
            </a:r>
            <a:br/>
            <a:r>
              <a:t>• Critical Vitals Intake: Blood Group (A+, B+, O+, AB-), Severe Allergies (Penicillin, Nuts), Chronic Conditions (Diabetes, Epilepsy).</a:t>
            </a:r>
            <a:br/>
            <a:r>
              <a:t>• ICE Contacts: Primary, secondary, family doctor.</a:t>
            </a:r>
            <a:br/>
            <a:r>
              <a:t>• Emergency Directives &amp; DNR flags.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PHASE 02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2. NTAG 424 DNA Encoding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• Issuance terminal programs NXP NTAG 424 DNA.</a:t>
            </a:r>
            <a:br/>
            <a:r>
              <a:t>• Generates Master Application Key (K0-K4).</a:t>
            </a:r>
            <a:br/>
            <a:r>
              <a:t>• Configures Secure Unique NFC (SUN) with AES-128 CMAC.</a:t>
            </a:r>
            <a:br/>
            <a:r>
              <a:t>• Programs 512-byte encrypted offline EEPROM payload for zero-internet emergency access.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PHASE 03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3. Laser Etching &amp; Surface Printing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• Micro-QR code laser-engraved onto composite PVC/PET surface.</a:t>
            </a:r>
            <a:br/>
            <a:r>
              <a:t>• Encoded with Level H error correction (withstands 30% physical abrasion or blood).</a:t>
            </a:r>
            <a:br/>
            <a:r>
              <a:t>• Distinct high-contrast Swiss Brutalist emergency layout with patient unique alphanumeric 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PHASE 04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4. Zero-Knowledge Cloud Storage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• Medical records encrypted client-side using AES-256 GCM.</a:t>
            </a:r>
            <a:br/>
            <a:r>
              <a:t>• Master keys stored in hardware security module (HSM).</a:t>
            </a:r>
            <a:br/>
            <a:r>
              <a:t>• Role-based dynamic data masking (Public bystander vs paramedic vs physician).</a:t>
            </a:r>
            <a:br/>
            <a:r>
              <a:t>• Immutable access log generated on each tap.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COMMUNITY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School District &amp; Pediatric Chronic Safety Architecture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Protecting students with epilepsy, severe asthma, type-1 diabetes, and nut anaphylaxis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Step 1: School District Portal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Campus registered nurses and administrators enroll students with documented chronic conditions via the LifeQR School Safety Dashboard.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Step 2: Bag Tag &amp; Wristband Issuance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Children receive durable silicone wristbands and clip-on backpack tags equipped with dual NFC and laser QR credentials.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Step 3: Sudden Classroom / Field Incident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If a student faints or experiences an epileptic seizure on the playground, teachers or bus drivers tap the badge in 1.8s.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Step 4: Instant Protocol &amp; Parent Alert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Displays immediate emergency instructions ('Administer EpiPen from left pouch; do not restrain') and dispatches automated SMS/call to parents.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PROCESS ARCHITECTURE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Highway Motorcycle Accident Triage Blueprint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IMU crash detection, paramedic tactical dual-scan, offline EEPROM decode &amp; GPS dispatch</a:t>
            </a:r>
          </a:p>
        </p:txBody>
      </p:sp>
      <p:pic>
        <p:nvPicPr>
          <p:cNvPr id="5" name="Picture 4" descr="accident_process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498079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691640"/>
            <a:ext cx="3017520" cy="466344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E11D2E"/>
                </a:solidFill>
              </a:defRPr>
            </a:pPr>
            <a:r>
              <a:t>PROCESS 2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★ 1. Motorcycle Crash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IoT IMU sensor beacon detects &gt;15G impact, broadcasting automated BLE emergency beacon.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★ 2. Paramedic Arrives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Arrives with rugged tactical handheld terminal; no personal smartphone delays.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★ 3. Instant 0.2s Scan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Scans helmet QR decal or taps wallet NFC card; decrypts O+ blood and allergy offline.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★ 4. GPS CAD Dispatch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Auto-identifies nearest Level-1 trauma center &amp; transmits live vitals en route.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CRASH DETECTION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Autonomous Motorcycle Crash &amp; E-Call Sensor Flow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How the LifeQR IoT helmet beacon identifies high-G crashes and eliminates delay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STEP 01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1. Impact Event (&gt;15G)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Rider strikes barrier or vehicle. 6-axis Bosch BMI270 accelerometer detects severe deceleration spike (&gt;15G) combined with high angular velocity.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STEP 02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2. 30s Stillness Verification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Algorithm verifies post-crash victim stillness for 30 seconds to filter out benign drops (e.g. helmet falling from seat), preventing false 911 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STEP 03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3. Autonomous BLE/E-Call Broadcast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Beacon triggers high-power BLE 5.3 emergency advertisement packet containing the rider's LifeQR ID and GPS coordinates to passing phones &amp; CAD.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STEP 04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4. Bystander / First Responder Scan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When responders or bystanders reach the victim, the 3M retroreflective helmet decal is scanned from 1 meter away without removing the helmet.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AMBULANCE HARDWARE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Paramedic Tactical Terminal: Field Execution Flow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Zero-latency dual scanning, offline EEPROM decoding, and live vitals telemetry</a:t>
            </a:r>
          </a:p>
        </p:txBody>
      </p:sp>
      <p:pic>
        <p:nvPicPr>
          <p:cNvPr id="5" name="Picture 4" descr="ambulance_triage_de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0350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737360"/>
            <a:ext cx="4480560" cy="448056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E11D2E"/>
                </a:solidFill>
              </a:defRPr>
            </a:pPr>
            <a:r>
              <a:t>FIELD RESCUE WORKFLOW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Sub-Second Dual Sensor Scan</a:t>
            </a:r>
          </a:p>
          <a:p>
            <a:pPr>
              <a:spcBef>
                <a:spcPts val="300"/>
              </a:spcBef>
              <a:defRPr sz="1000">
                <a:solidFill>
                  <a:srgbClr val="D1D5DB"/>
                </a:solidFill>
              </a:defRPr>
            </a:pPr>
            <a:r>
              <a:t>Paramedic approaches unconscious victim; taps card on top NFC halo or scans helmet QR decal. Sensor responds in &lt; 200 milliseconds even in heavy rain.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Offline EEPROM Vitals Decrypt</a:t>
            </a:r>
          </a:p>
          <a:p>
            <a:pPr>
              <a:spcBef>
                <a:spcPts val="300"/>
              </a:spcBef>
              <a:defRPr sz="1000">
                <a:solidFill>
                  <a:srgbClr val="D1D5DB"/>
                </a:solidFill>
              </a:defRPr>
            </a:pPr>
            <a:r>
              <a:t>If cellular reception is 0%, the terminal decrypts the 512-byte payload stored in the card's chip. Projects Blood Type O+ and Penicillin Allergy on screen.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1-Touch Vitals Entry &amp; Stream</a:t>
            </a:r>
          </a:p>
          <a:p>
            <a:pPr>
              <a:spcBef>
                <a:spcPts val="300"/>
              </a:spcBef>
              <a:defRPr sz="1000">
                <a:solidFill>
                  <a:srgbClr val="D1D5DB"/>
                </a:solidFill>
              </a:defRPr>
            </a:pPr>
            <a:r>
              <a:t>Paramedic attaches pulse oximeter and cuff; taps HR (134), SpO2 (89%), BP (95/58). Data streams continuously to hospital ER over 4G/Satellite.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★ High-Contrast Triage HUD</a:t>
            </a:r>
          </a:p>
          <a:p>
            <a:pPr>
              <a:spcBef>
                <a:spcPts val="300"/>
              </a:spcBef>
              <a:defRPr sz="1000">
                <a:solidFill>
                  <a:srgbClr val="D1D5DB"/>
                </a:solidFill>
              </a:defRPr>
            </a:pPr>
            <a:r>
              <a:t>Sunlight-readable 800-nit screen displays Red (Urgent) triage banner, preventing lethal contraindications in noisy, chaotic crash sites.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DISPATCH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Proximity GPS &amp; Hospital Auto-Notification Architecture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Automated trauma center selection, ETA calculation, and advance bay reservation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PHASE 01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1. GPS Spatial Query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Quectel GNSS module fixes exact crash coordinates and queries the regional trauma hospital registry within 25 km radius.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PHASE 02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2. Capability Matching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Evaluates live hospital telemetry: verified on-duty trauma surgeon, CT scanner availability, and O-negative blood stock.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PHASE 03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3. Automated Reservation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Transmits an authenticated reservation token to City Trauma Care ER. Locks Trauma Bay 1 and thaws blood units 7 minutes prior to arrival.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PHASE 04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4. Live In-Transit Radar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Ambulance streams continuous GPS coordinates, speed, traffic-adjusted ETA, and patient vitals to the receiving hospital command desk.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PROCESS ARCHITECTURE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Hospital &amp; Clinical ER Resuscitation Blueprint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In-transit telemetry, automated trauma bay reservation, doctor desktop cradle &amp; FHIR sync</a:t>
            </a:r>
          </a:p>
        </p:txBody>
      </p:sp>
      <p:pic>
        <p:nvPicPr>
          <p:cNvPr id="5" name="Picture 4" descr="hospital_process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498079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691640"/>
            <a:ext cx="3017520" cy="466344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PROCESS 3 HIGHLIGHTS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✔ 1. In-Transit Vitals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ER monitor receives live countdown (ETA 07:12) and vitals (HR 134, SpO2 89%, BP 95/58).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✔ 2. Bay 1 &amp; Blood Staged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Trauma Bay 1 locked; blood bank thaws matched O-negative units before siren arrives.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✔ 3. Doctor Desktop Cradle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Doctor taps card on USB/BLE scanner cradle; profile populates with zero manual typing.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✔ 4. FHIR &amp; AI Safety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Auto-syncs into Epic/Cerner EHR; flags penicillin allergy and generates SOAP chart.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TRAUMA BAY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Advance Resuscitation &amp; Blood Bank Protocol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Converting chaotic hospital arrival into an orchestrated clinical resuscitation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Advance Notification (ETA -10m)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ER charge nurse receives siren alert and telemetry stream on central command console. Victim identified as 28yo male, motorcycle polytrauma, GCS 9.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Trauma Bay Lockout (ETA -7m)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Trauma Bay 1 is electronically reserved on the board. Nursing team pre-sets rapid infuser, ventilator circuit, and emergency chest tube tray.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Blood Bank Staging (ETA -5m)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Hospital blood refrigerator receives automated reservation: thaws 2 units of uncrossed O-negative PRBCs and 2 units of plasma. Ready at bay bedside.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Immediate Handover (ETA 0m)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Ambulance backs into trauma dock; victim moved directly into Bay 1. Zero check-in registration delay. Resuscitation begins immediately.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CLINICAL INTAKE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Doctor Desktop Scanner &amp; Zero-Typing Consultation Flow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Eliminating transcription errors, medication mix-ups, and consultation paperwork delays</a:t>
            </a:r>
          </a:p>
        </p:txBody>
      </p:sp>
      <p:pic>
        <p:nvPicPr>
          <p:cNvPr id="5" name="Picture 4" descr="doctor_desktop_sc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03504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737360"/>
            <a:ext cx="4480560" cy="448056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CLINICAL DESK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Plug-and-Play USB HID/CCID</a:t>
            </a:r>
          </a:p>
          <a:p>
            <a:pPr>
              <a:spcBef>
                <a:spcPts val="300"/>
              </a:spcBef>
              <a:defRPr sz="1000">
                <a:solidFill>
                  <a:srgbClr val="D1D5DB"/>
                </a:solidFill>
              </a:defRPr>
            </a:pPr>
            <a:r>
              <a:t>Medical-grade scanner cradle connects via USB Type-C to doctor's PC. Functions driverless as a smart card reader and keyboard wedge.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1-Tap Patient Record Ingestion</a:t>
            </a:r>
          </a:p>
          <a:p>
            <a:pPr>
              <a:spcBef>
                <a:spcPts val="300"/>
              </a:spcBef>
              <a:defRPr sz="1000">
                <a:solidFill>
                  <a:srgbClr val="D1D5DB"/>
                </a:solidFill>
              </a:defRPr>
            </a:pPr>
            <a:r>
              <a:t>Doctor simply taps the patient's card or scans QR code $_x000D_ightarrow$ complete clinical profile, past surgeries, and active prescriptions populate with zero manual typing.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AI Clinical Safety Copilot</a:t>
            </a:r>
          </a:p>
          <a:p>
            <a:pPr>
              <a:spcBef>
                <a:spcPts val="300"/>
              </a:spcBef>
              <a:defRPr sz="1000">
                <a:solidFill>
                  <a:srgbClr val="D1D5DB"/>
                </a:solidFill>
              </a:defRPr>
            </a:pPr>
            <a:r>
              <a:t>Integrated AI cross-references doctor's newly prescribed medication against patient's allergies and existing drugs, instantly flagging lethal drug interactions.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✔ Automated SOAP Note Generation</a:t>
            </a:r>
          </a:p>
          <a:p>
            <a:pPr>
              <a:spcBef>
                <a:spcPts val="300"/>
              </a:spcBef>
              <a:defRPr sz="1000">
                <a:solidFill>
                  <a:srgbClr val="D1D5DB"/>
                </a:solidFill>
              </a:defRPr>
            </a:pPr>
            <a:r>
              <a:t>Generates compliant Subjective, Objective, Assessment, Plan (SOAP) clinical encounter documentation ready for physician signature.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EHR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HL7 &amp; FHIR v4 Clinical Integration Pipeline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Standardized JSON health exchange connecting LifeQR with global hospital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RESOURCE 01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FHIR Patient Resource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Maps legal name, MRN, date of birth, emergency contacts, and blood group according to US Core &amp; international HL7 standards.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E11D2E"/>
                </a:solidFill>
              </a:defRPr>
            </a:pPr>
            <a:r>
              <a:t>RESOURCE 02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FHIR AllergyIntolerance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Directly transmits critical anaphylactic risks (penicillin, sulfa, latex, nuts) with verification status: 'confirmed' and criticality: 'high'.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RESOURCE 03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FHIR Condition &amp; History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Standardized SNOMED-CT and ICD-10 medical condition encoding (e.g. Type-1 Diabetes E10.9, Severe Asthma J45.9).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14600" cy="438912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RESOURCE 04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FHIR Encounter &amp; Handover</a:t>
            </a:r>
          </a:p>
          <a:p>
            <a:pPr>
              <a:spcBef>
                <a:spcPts val="1200"/>
              </a:spcBef>
              <a:defRPr sz="1050">
                <a:solidFill>
                  <a:srgbClr val="D1D5DB"/>
                </a:solidFill>
              </a:defRPr>
            </a:pPr>
            <a:r>
              <a:t>Encapsulates paramedic field vitals (HR, SpO2, BP), Glasgow Coma Scale, and incident timestamp into an active emergency encounter record.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Zero-Trust Privacy &amp; Multi-Tiered Access Governance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Complying with HIPAA, GDPR, and medical confidentiality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A: Public / Bystander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Scanning with a smartphone camera shows only life-critical data: Blood Group, Emergency ICE Contacts (1-tap dial), and severe anaphylaxis warnings. Zero personal addresses, social security numbers, or financial details are exposed.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92024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B: First Responder (EMS)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Paramedic authenticated terminal unlocks detailed clinical profile: active medications, chronic ailments, cardiac history, and specialized emergency physician directives.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C: Verified Hospital Physician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Doctor desktop terminal unlocks full clinical consultation notes, past diagnostic lab reports, AI differential insights, and prescription safety validator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4114800"/>
            <a:ext cx="5120640" cy="1920240"/>
          </a:xfrm>
          <a:prstGeom prst="rect">
            <a:avLst/>
          </a:prstGeom>
          <a:solidFill>
            <a:srgbClr val="141821"/>
          </a:solidFill>
          <a:ln w="1905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Cryptographic Audit Trail</a:t>
            </a:r>
          </a:p>
          <a:p>
            <a:pPr>
              <a:spcBef>
                <a:spcPts val="800"/>
              </a:spcBef>
              <a:defRPr sz="1100">
                <a:solidFill>
                  <a:srgbClr val="D1D5DB"/>
                </a:solidFill>
              </a:defRPr>
            </a:pPr>
            <a:r>
              <a:t>Every tap or scan is cryptographically signed, timestamped, and geotagged. Immutable audit logs recorded in compliance with HIPAA Section 164.312.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2E"/>
                </a:solidFill>
              </a:defRPr>
            </a:pPr>
            <a:r>
              <a:t>●  LIFEQR PROCESS ARCHITECTURE MASTER  |  HARDWARE SCHEMATICS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Tactical Triage Terminal: Component Architecture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Exploded assembly breakdown for field-grade manufacturing and IP68 certification</a:t>
            </a:r>
          </a:p>
        </p:txBody>
      </p:sp>
      <p:pic>
        <p:nvPicPr>
          <p:cNvPr id="5" name="Picture 4" descr="hardware_exploded_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498079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691640"/>
            <a:ext cx="3017520" cy="4663440"/>
          </a:xfrm>
          <a:prstGeom prst="rect">
            <a:avLst/>
          </a:prstGeom>
          <a:solidFill>
            <a:srgbClr val="1418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HARDWARE SUBSYSTEMS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Core SoC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ESP32-S3 Dual-Core Xtensa @ 240MHz with hardware crypto engine.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Dual Sensors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NXP PN532 NFC reader + 60fps 2D CMOS optical barcode imager.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Comms &amp; GPS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Quectel EC200U 4G LTE-M with GNSS GPS/GLONASS positioning.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Battery System</a:t>
            </a:r>
          </a:p>
          <a:p>
            <a:pPr>
              <a:spcBef>
                <a:spcPts val="300"/>
              </a:spcBef>
              <a:defRPr sz="950">
                <a:solidFill>
                  <a:srgbClr val="D1D5DB"/>
                </a:solidFill>
              </a:defRPr>
            </a:pPr>
            <a:r>
              <a:t>4000mAh Li-Po (18h continuous duty) + USB-C PD &amp; Qi wireless dock.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05840"/>
            <a:ext cx="9445752" cy="4846320"/>
          </a:xfrm>
          <a:prstGeom prst="rect">
            <a:avLst/>
          </a:prstGeom>
          <a:solidFill>
            <a:srgbClr val="141821"/>
          </a:solidFill>
          <a:ln w="25400">
            <a:solidFill>
              <a:srgbClr val="E1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 rIns="5486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LIFEQR 2.0 PROCESS ARCHITECTURE MASTERED</a:t>
            </a:r>
          </a:p>
          <a:p>
            <a:pPr algn="ctr">
              <a:spcBef>
                <a:spcPts val="800"/>
              </a:spcBef>
              <a:defRPr sz="1700" b="1">
                <a:solidFill>
                  <a:srgbClr val="E11D2E"/>
                </a:solidFill>
              </a:defRPr>
            </a:pPr>
            <a:r>
              <a:t>A Complete, Synchronized, Real-World Emergency Medical Network</a:t>
            </a:r>
          </a:p>
          <a:p>
            <a:pPr algn="l">
              <a:spcBef>
                <a:spcPts val="1800"/>
              </a:spcBef>
              <a:defRPr sz="1300">
                <a:solidFill>
                  <a:srgbClr val="D1D5DB"/>
                </a:solidFill>
              </a:defRPr>
            </a:pPr>
            <a:r>
              <a:t>By unifying:</a:t>
            </a:r>
            <a:br/>
            <a:r>
              <a:t>✔ Process 1: Zero-battery cryptographic NTAG 424 DNA cards &amp; school student safety tags</a:t>
            </a:r>
            <a:br/>
            <a:r>
              <a:t>✔ Process 2: Autonomous motorcycle crash IMU detection &amp; paramedic tactical dual-scanning</a:t>
            </a:r>
            <a:br/>
            <a:r>
              <a:t>✔ Process 3: Real-time in-transit ER telemetry, advance trauma bay reservation &amp; doctor desktop cradle</a:t>
            </a:r>
            <a:br/>
            <a:r>
              <a:t>... LifeQR transforms emergency survival from a chaotic gamble into an engineered science.</a:t>
            </a:r>
          </a:p>
          <a:p>
            <a:pPr algn="ctr">
              <a:spcBef>
                <a:spcPts val="2600"/>
              </a:spcBef>
              <a:defRPr sz="1200" b="1">
                <a:solidFill>
                  <a:srgbClr val="10B981"/>
                </a:solidFill>
              </a:defRPr>
            </a:pPr>
            <a:r>
              <a:t>READY FOR HARDWARE FABRICATION &amp; MUNICIPAL EMS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