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" cy="4754880"/>
          </a:xfrm>
          <a:prstGeom prst="rect">
            <a:avLst/>
          </a:prstGeom>
          <a:solidFill>
            <a:srgbClr val="E1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LIFEQR 2.0: DEEP SYSTEM ARCHITECTURE</a:t>
            </a:r>
          </a:p>
          <a:p>
            <a:pPr>
              <a:spcBef>
                <a:spcPts val="1000"/>
              </a:spcBef>
              <a:defRPr sz="1800">
                <a:solidFill>
                  <a:srgbClr val="E11D2E"/>
                </a:solidFill>
              </a:defRPr>
            </a:pPr>
            <a:r>
              <a:t>Engineering Upgrades, Edge IoT Schematics &amp; Enterprise Clinical Scaling Blueprint</a:t>
            </a:r>
          </a:p>
          <a:p>
            <a:pPr>
              <a:spcBef>
                <a:spcPts val="2000"/>
              </a:spcBef>
              <a:defRPr sz="1400">
                <a:solidFill>
                  <a:srgbClr val="D1D5DB"/>
                </a:solidFill>
              </a:defRPr>
            </a:pPr>
            <a:r>
              <a:t>Comprehensive technical strategy to make LifeQR an uncompromised real-world reality:</a:t>
            </a:r>
            <a:br/>
            <a:r>
              <a:t>Anti-cloning cryptographic NFC, offline-first encrypted payloads, motorcycle crash beacons,</a:t>
            </a:r>
            <a:br/>
            <a:r>
              <a:t>FHIR v4 clinical integration, and intelligent trauma bay resource matching.</a:t>
            </a:r>
          </a:p>
          <a:p>
            <a:pPr>
              <a:spcBef>
                <a:spcPts val="4500"/>
              </a:spcBef>
              <a:defRPr sz="1100" b="1">
                <a:solidFill>
                  <a:srgbClr val="9CA3AF"/>
                </a:solidFill>
              </a:defRPr>
            </a:pPr>
            <a:r>
              <a:t>HARDWARE SPECIFICATIONS  •  IOT NETWORK TOPOLOGY  •  ENTERPRISE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End-to-End Connected IoT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4-Tier physical-to-cloud resilience from street crash to trauma bay</a:t>
            </a:r>
          </a:p>
        </p:txBody>
      </p:sp>
      <p:pic>
        <p:nvPicPr>
          <p:cNvPr id="5" name="Picture 4" descr="lifeqr_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83080"/>
            <a:ext cx="4480560" cy="4480560"/>
          </a:xfrm>
          <a:prstGeom prst="rect">
            <a:avLst/>
          </a:prstGeom>
          <a:solidFill>
            <a:srgbClr val="1619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■  Tier 1: Physical Citizen Edge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NTAG 424 DNA smart cards, 3M helmet decals, and IMU crash beacons. Zero power, permanent passive operation.</a:t>
            </a:r>
          </a:p>
          <a:p>
            <a:pPr>
              <a:spcBef>
                <a:spcPts val="800"/>
              </a:spcBef>
              <a:defRPr sz="1300" b="1">
                <a:solidFill>
                  <a:srgbClr val="E11D2E"/>
                </a:solidFill>
              </a:defRPr>
            </a:pPr>
            <a:r>
              <a:t>■  Tier 2: Field Responder Gateway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Rugged ambulance terminal with dual NFC/2D optical engine, offline SQLite cache, 4G LTE-M &amp; satellite fallback.</a:t>
            </a:r>
          </a:p>
          <a:p>
            <a:pPr>
              <a:spcBef>
                <a:spcPts val="800"/>
              </a:spcBef>
              <a:defRPr sz="1300" b="1">
                <a:solidFill>
                  <a:srgbClr val="0EA5E9"/>
                </a:solidFill>
              </a:defRPr>
            </a:pPr>
            <a:r>
              <a:t>■  Tier 3: Cloud &amp; Dispatch Core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Microservices event bus (Socket.IO/Kafka), PostGIS spatial proximity routing, zero-knowledge AES-256 GCM vault.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■  Tier 4: Clinical Triage &amp; Hospital ER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HL7/FHIR v4 EHR interoperability, doctor desktop USB cradle, and live incoming trauma bay reservation radar.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01: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Cryptographic Anti-Cloning NFC (NTAG 424 DNA)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Eliminating credential duplication and identity spoofing with rolling cryptographic signatures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PROBLEM IDENTIFIED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The Vulnerability in Basic NFC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Standard NFC cards (NTAG213) store static NDEF URLs that can easily be duplicated by any consumer smartphone NFC cloner app, posing serious patient identity fraud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ENGINEERING FIX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The NTAG 424 DNA Solution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Upgrading to NXP NTAG 424 DNA chips utilizing Secure Unique NFC (SUN) with AES-128 cryptographic rolling CMAC (Cipher-based Message Authentication Code).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TECHNICAL MECHANISM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Dynamic Rolling CMAC Token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Every single tap generates a cryptographically unique URL with an incrementing interaction counter and dynamic MAC: `https://lifeqr.org/e/?c=00042&amp;m=A9B4C2...`. Impossible to copy or replay.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SECURITY GUARANTEE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Zero-Knowledge Cloud Verification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LifeQR backend verifies the cryptographic signature against the card's master key in real time. Spoofed or cloned cards are instantly flagged and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02: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Offline-First Operation &amp; Satellite Fallback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Solving the highway dead zone: 100% triage uptime with zero cellular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REAL-WORLD CHALLENGE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Highway Dead Zones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Accidents frequently happen on expressways, mountain passes, and rural roads with 0% cellular signal. Cloud-only architectures fail catastrophically in these moments.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ON-CARD EDGE CACHE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Encrypted On-Card Vitals (EEPROM)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Store a compact 512-byte AES-encrypted binary payload directly inside the card's chip memory (Blood Group, Top 3 Allergies, Chronic Conditions, ICE Phone). The ambulance terminal reads and decrypts it locally in &lt; 0.1s with zero internet.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LOCAL EDGE INTELLIGENCE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Terminal Offline SQLite Database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The ambulance terminal maintains an onboard encrypted local database of regional emergency protocols, drug interactions, and hospital coordinates updated daily via Wi-Fi.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SATELLITE REDUNDANCY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Satellite &amp; LoRa Mesh SOS Fallback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When cellular fails, the terminal automatically falls back to LoRa P2P emergency mesh or direct satellite burst (Iridium / Starlink Direct-to-Cell) to transmit critical coordinates and victim triage.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03: PROACTIVE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Autonomous IoT Motorcycle Crash Sensor Beacon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Detecting unwitnessed crashes and unconscious rider e-calls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★  The Unwitnessed Highway Crash Dilemma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If a rider is ejected 50 feet into a roadside trench at night, nobody knows a crash occurred. Waiting for passerby discovery guarantees Golden Hour mortality.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Micro IoT Crash Sensor Architecture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 coin-cell powered BLE 5.3 beacon with integrated 6-axis IMU (Bosch BMI270 accelerometer + gyroscope) mounted inside the helmet or on the bike frame.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High-G Impact Algorithm (&gt;15G)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Firmware detects violent deceleration (&gt;15G impact) followed by zero movement, rejecting false positives (e.g. dropping helmet on a table).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Automatic Bystander &amp; Cellular E-Call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Automatically wakes up and transmits high-priority BLE emergency advertisement with rider LifeQR ID, triggering automated emergency dispatch.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4389120"/>
          </a:xfrm>
          <a:prstGeom prst="rect">
            <a:avLst/>
          </a:prstGeom>
          <a:solidFill>
            <a:srgbClr val="1619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HARDWARE BEACON SPECIFICATIONS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 Form Factor: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Coin-sized IP68 waterproof disc (32mm diameter x 6mm thick, 14 grams)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 Battery Life: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CR2032 Lithium cell with ultra-low sleep current (2.1 years standby life)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 Crash Detection: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Multi-stage shock threshold: &gt;15G impact + angular rotation + 30s stillness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 BLE Beacon Protocol: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Apple FindMy / Google Fast Pair compatible emergency advertising payload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 Dual Identity Link: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Directly linked to rider's LifeQR Smart Medical ID card and helmet decal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HARDWARE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Tactical Triage Terminal: Exploded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Layer-by-layer industrial assembly design for ambulance field reliability</a:t>
            </a:r>
          </a:p>
        </p:txBody>
      </p:sp>
      <p:pic>
        <p:nvPicPr>
          <p:cNvPr id="5" name="Picture 4" descr="hardware_exploded_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21792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783080"/>
            <a:ext cx="4297680" cy="4480560"/>
          </a:xfrm>
          <a:prstGeom prst="rect">
            <a:avLst/>
          </a:prstGeom>
          <a:solidFill>
            <a:srgbClr val="1619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[1] Armored Bezel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High-impact polycarbonate composite with recessed bezel protecting screen against face-down drops on asphalt.</a:t>
            </a:r>
          </a:p>
          <a:p>
            <a:pPr>
              <a:spcBef>
                <a:spcPts val="600"/>
              </a:spcBef>
              <a:defRPr sz="1200" b="1">
                <a:solidFill>
                  <a:srgbClr val="0EA5E9"/>
                </a:solidFill>
              </a:defRPr>
            </a:pPr>
            <a:r>
              <a:t>[2] Sunlight IPS Display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Optical-bonded Gorilla Glass 5, 800 nits high-brightness LCD readable in direct midday sunlight.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[3] Planar NFC Antenna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Tuned 13.56 MHz loop antenna designed for omnidirectional card reads from 0-45mm distance.</a:t>
            </a:r>
          </a:p>
          <a:p>
            <a:pPr>
              <a:spcBef>
                <a:spcPts val="600"/>
              </a:spcBef>
              <a:defRPr sz="1200" b="1">
                <a:solidFill>
                  <a:srgbClr val="E11D2E"/>
                </a:solidFill>
              </a:defRPr>
            </a:pPr>
            <a:r>
              <a:t>[4] 2D Optical CMOS Imager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Industrial high-speed camera engine with red targeting reticle for decoding smeared/bloody QR codes.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</a:defRPr>
            </a:pPr>
            <a:r>
              <a:t>[5] Multi-Layer PCB Motherboard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ESP32-S3 SoC, Quectel 4G LTE-M modem, GNSS GPS receiver, and ATECC608A crypto element.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[6] Heavy-Duty IP68 Chassis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Overmolded TPU rubber bumpers with hermetic gasket seals resisting decontamination wipes.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SCHEMATICS &amp;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Circuit Architecture &amp; Component Breakdown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Rigorous hardware bill of materials engineered for volume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290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Power Management (PMIC)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TI BQ25895 PMIC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High-efficiency switch-mode charger with USB Type-C Power Delivery (5V/9V 18W fast charging).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Dual Battery System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Main 4000mAh Li-Po (18h continuous duty) + 120mAh backup cell enabling hot-swap capability.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Inductive Qi Dock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15W wireless charging receiver integrated into vehicle mounting dock for automatic top-up.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920240"/>
            <a:ext cx="34290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Processing &amp; Security Core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ESP32-S3-WROOM-1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Dual-Core Xtensa LX7 @ 240MHz, 8MB Flash, 8MB PSRAM, hardware AES/SHA engine.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Microchip ATECC608B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Dedicated hardware secure element for storing private cryptographic device certificates.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Secure Boot &amp; OTA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RSA-3072 signature verification preventing malicious firmware modification in the field.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920240"/>
            <a:ext cx="34290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Sensory &amp; RF Front-End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NXP PN532 NFC Module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13.56 MHz RF transceiver supporting ISO14443A/B, FeliCa, and active card emulation.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Newland NLS-EM20-80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Compact 2D CMOS imaging sensor with 60fps continuous scanning and diffuse LED illumination.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Quectel EC200U LTE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Global Cat-1 LTE-M / NB-IoT with multi-constellation GNSS (GPS, GLONASS, BeiDou).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04: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Clinical Integration: HL7 &amp; FHIR v4 Gateway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Zero-friction bridge to hospital Electronic Health Records (Epic, Cerner, OpenEMR)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INDUSTRY BOTTLENECK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The EHR Fragmentation Barrier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Hospitals run proprietary, walled-off EHR systems (Epic Systems, Oracle Cerner, Allscripts, Meditech). Custom proprietary integrations cost millions and delay hospital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STANDARDIZED CORE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Standardized FHIR v4 Native Export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LifeQR backend exports standardized JSON FHIR v4 resources (`Patient`, `AllergyIntolerance`, `Condition`, `MedicationStatement`, `Encounter`), immediately readable by any modern hospital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SEAMLESS INTAKE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1-Click ER Triage Ingestion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When an ambulance arrives, the triage nurse clicks 'Import LifeQR Handover'. Patient demographics, vitals, and surgical alerts auto-populate the hospital chart with zero manual typing.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ZERO-IT OVERHEAD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Driverless Doctor USB Cradle (HID)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The doctor desktop scanner operates as a driverless USB HID keyboard wedge and smart card reader (CCID), working instantly on any hospital Windows/Linux terminal without IT installation barriers.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05: AI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Resource-Aware Intelligent Trauma Bay Routing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Moving beyond simple GPS distance to match patient trauma with hospital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FATAL DELAY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Traditional Flawed Routing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Ambulances blindly rush to the geographically nearest hospital, only to find the hospital has no open trauma bay, no on-duty neurosurgeon, or zero O-negative blood units.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MATCHING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LifeQR Resource Matching Algorithm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Our cloud dispatch engine analyzes both patient clinical state (e.g. severe head trauma, low BP) and live hospital telemetry feeds to identify the optimal resuscitation facility.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HOSPITAL TELEMETRY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Real-Time ER Capability Telemetry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Hospital ER dashboards broadcast live operational availability: Open Resuscitation Bays (1-4), CT Scanner readiness, Cath Lab on standby, and Blood Bank inventory.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RESERVATION PROTOCOL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Automated Trauma Bay Reservation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En route, the ambulance terminal sends an authenticated reservation token. Trauma Bay 1 is locked, surgical staff notified, and blood units thawed before the ambulance siren arrives.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UPGRADE 06: EMERGENCY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Government CAD &amp; Public Emergency Gateway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Bridging LifeQR directly into municipal 911 / 112 / 108 Computer-Aided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6400800" cy="4206240"/>
          </a:xfrm>
          <a:prstGeom prst="rect">
            <a:avLst/>
          </a:prstGeom>
          <a:solidFill>
            <a:srgbClr val="1619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✔  Direct CAD Webhook Gateway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Standardized RESTful webhook adapter connecting LifeQR events directly with legacy CAD systems (Motorola Solutions PremierOne, Hexagon OnCall, Intergraph CAD).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Automated 911 Call Enrichment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When a bystander or patient triggers an SOS, the LifeQR CAD integration automatically enriches the 911 operator's console with precise GPS coordinates, caller name, blood group, and medical flags.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Multi-Agency Dispatch Sync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Synchronizes police, fire rescue, and medical EMS dispatch simultaneously, ensuring all first responders have identical incident awareness.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Automated SMS/WhatsApp ICE Broadcast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Emergency contacts (spouses, parents) receive automated geographic SMS alerts with live map tracking link and emergency hotline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920240"/>
            <a:ext cx="402336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INCIDENT CAD DATA FLOW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↓  1. SOS / Crash Triggered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   IMU sensor or bystander QR scan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↓  2. Cloud CAD Dispatcher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   Enriches call with LifeQR medical data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↓  3. Municipal 911 / 112 Console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   Operator dispatches nearest EMS unit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↓  4. Ambulance Terminal Receives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   Navigates to GPS pin with triage ready</a:t>
            </a:r>
          </a:p>
          <a:p>
            <a:pPr>
              <a:spcBef>
                <a:spcPts val="800"/>
              </a:spcBef>
              <a:defRPr sz="1100" b="1">
                <a:solidFill>
                  <a:srgbClr val="E11D2E"/>
                </a:solidFill>
              </a:defRPr>
            </a:pPr>
            <a:r>
              <a:t>↓  5. Receiving Hospital Notified</a:t>
            </a:r>
          </a:p>
          <a:p>
            <a:pPr>
              <a:defRPr sz="1000">
                <a:solidFill>
                  <a:srgbClr val="D1D5DB"/>
                </a:solidFill>
              </a:defRPr>
            </a:pPr>
            <a:r>
              <a:t>   Trauma bay prepared before arrival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Zero-Trust Privacy &amp; Tiered Access Governance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Complying with HIPAA, GDPR, and medical confidentiality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A: Public / Bystander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Scanning with standard phone camera shows only life-critical data: Blood Group, Emergency ICE Contacts (1-tap dial), and severe anaphylaxis warning. Zero personal identity or addresses leaked.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B: First Responder (EMS)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Paramedic authenticated terminal unlocks detailed clinical profile: active prescriptions, recent surgeries, cardiac history, and specialized emergency physician directives.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C: Verified Hospital Physician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Doctor desktop terminal unlocks full clinical consultation notes, past diagnostic lab reports, AI differential insights, and prescription safety validator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Cryptographic Audit Trail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Every tap or scan is cryptographically signed, timestamped, and geotagged. Immutable audit logs recorded in compliance with HIPAA Section 164.312.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COMMUNITY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School District &amp; Pediatric Safety Network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Protecting students with chronic illness (asthma, epilepsy, diabetes, nut allergies)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Central Campus Safety Portal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School administrators and registered school nurses manage enrolled students with documented medical conditions through a specialized LifeQR School Safety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Backpack Tags &amp; Wearable Wristbands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Every student carries an NFC/QR tag attached to their school backpack and silicone sports band for playground and gym activities.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Immediate Bystander Action Protocol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If a child faints or suffers a seizure, teachers, bus drivers, or classmates tap the badge to see instant emergency instructions (e.g. 'Turn on side, do not restrain, administer EpiPen from left pouch').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82880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Instant Parent &amp; School Nurse SOS</a:t>
            </a:r>
          </a:p>
          <a:p>
            <a:pPr>
              <a:spcBef>
                <a:spcPts val="600"/>
              </a:spcBef>
              <a:defRPr sz="1100">
                <a:solidFill>
                  <a:srgbClr val="D1D5DB"/>
                </a:solidFill>
              </a:defRPr>
            </a:pPr>
            <a:r>
              <a:t>Scanning triggers instant automated SMS &amp; phone dispatch to parents and campus first aid personnel with the child's exact playground GPS coordinates.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2.0 ARCHITECTURE BLUEPRINT  |  FINANCIAL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Manufacturing Scale &amp; Component Unit Economics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Sustainable cost structure designed for massive grassroots and institutional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Smart NFC Card (NTAG 424)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• Unit BOM Cost: $0.45</a:t>
            </a:r>
            <a:br/>
            <a:r>
              <a:t>• Retail Price: $2.50</a:t>
            </a:r>
            <a:br/>
            <a:r>
              <a:t>• Gross Margin: 82%</a:t>
            </a:r>
            <a:br/>
            <a:r>
              <a:t>• Durable PVC/metal composite with laser QR etching.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3M Reflective Helmet Decal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• Unit BOM Cost: $0.18</a:t>
            </a:r>
            <a:br/>
            <a:r>
              <a:t>• Retail Price: $1.50</a:t>
            </a:r>
            <a:br/>
            <a:r>
              <a:t>• Gross Margin: 88%</a:t>
            </a:r>
            <a:br/>
            <a:r>
              <a:t>• Weatherproof, gasoline-resistant retroreflective vinyl.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Ambulance Tactical Terminal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• Hardware BOM Cost: ~$68.00</a:t>
            </a:r>
            <a:br/>
            <a:r>
              <a:t>• Fleet Lease: $25 / month</a:t>
            </a:r>
            <a:br/>
            <a:r>
              <a:t>• Payback Period: 3.2 Months</a:t>
            </a:r>
            <a:br/>
            <a:r>
              <a:t>• High recurring SaaS/HaaS margin with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920240"/>
            <a:ext cx="2514600" cy="4206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Doctor Desktop USB Cradle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• Hardware BOM Cost: ~$16.50</a:t>
            </a:r>
            <a:br/>
            <a:r>
              <a:t>• One-Time Price: $35.00</a:t>
            </a:r>
            <a:br/>
            <a:r>
              <a:t>• Plug-and-play USB/BLE cradle for clinic desks.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05840"/>
            <a:ext cx="9445752" cy="4846320"/>
          </a:xfrm>
          <a:prstGeom prst="rect">
            <a:avLst/>
          </a:prstGeom>
          <a:solidFill>
            <a:srgbClr val="161921"/>
          </a:solidFill>
          <a:ln w="2540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 rIns="5486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LIFEQR 2.0 ARCHITECTURAL ROADMAP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E11D2E"/>
                </a:solidFill>
              </a:defRPr>
            </a:pPr>
            <a:r>
              <a:t>From Digital Proof-of-Concept to Real-World Physical Lifeline</a:t>
            </a:r>
          </a:p>
          <a:p>
            <a:pPr algn="l">
              <a:spcBef>
                <a:spcPts val="1800"/>
              </a:spcBef>
              <a:defRPr sz="1300">
                <a:solidFill>
                  <a:srgbClr val="D1D5DB"/>
                </a:solidFill>
              </a:defRPr>
            </a:pPr>
            <a:r>
              <a:t>1. Prototyping (M1-M3): Fabricate ESP32-S3 + NXP PN532 custom PCB &amp; 500 NTAG 424 DNA cards.</a:t>
            </a:r>
            <a:br/>
            <a:r>
              <a:t>2. Field Pilot (M4-M6): Equip 20 municipal ambulance units &amp; 5 trauma bay desktop cradles.</a:t>
            </a:r>
            <a:br/>
            <a:r>
              <a:t>3. School &amp; Biker Rollout (M7-M10): 10,000 student bag tags &amp; motorcycle helmet community decals.</a:t>
            </a:r>
            <a:br/>
            <a:r>
              <a:t>4. Statewide Emergency CAD (M11+): Direct integration with 911 / 112 national emergency infrastructure.</a:t>
            </a:r>
          </a:p>
          <a:p>
            <a:pPr algn="ctr">
              <a:spcBef>
                <a:spcPts val="2600"/>
              </a:spcBef>
              <a:defRPr sz="1200" b="1">
                <a:solidFill>
                  <a:srgbClr val="10B981"/>
                </a:solidFill>
              </a:defRPr>
            </a:pPr>
            <a:r>
              <a:t>ENGINEERING PARTNERSHIP &amp; INVESTOR CONTACT: engineering@lifeqr.org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